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Plan: classic VMD, the idea of unfolding, UVMD in detail, theoretical caveats, then reconstruction and separation results on synthetic, CWRU and LargeST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VMD minimises the summed bandwidth of K modes, each centred on its own frequency, under the constraint that the modes reconstruct the signal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VMD (Dragomiretskiy and Zosso, 2014). In our benchmark tau is 0, so the multiplier stays at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Settings in the pills are the ones used in this benchmark. The mode sweep is Gauss-Seidel.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structure of the algorithm is kept, so the network stays interpretable: every layer is still one step of the original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is end to end: the loss only sees the final layer, but its gradient reaches every layer’s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Ahmad, Wesemann, Waschkowski, Khalid, arXiv 2509.00703, and the released code (OsamaAhmad369/MAGN, uvmd.py). The equation form is the code’s; the paper differs slightly.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released code allocates N+1 rows for lambda; the last is never used. Alpha is one vector of K values reused in every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the upstream training loop unchanged. Upstream saves the best weights and then overwrites them with the last-epoch weights; the training loss was still falling at epoch 100.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the released code unchanged as the reference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measurements on the next slides show this holds on traffic and synthetic data, but not on CWRU.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CWRU result is the clearest case: near-perfect reconstruction with modes that overlap far more than the untrained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 is in grid spacings of 0.5/K cycles per sample, averaged over modes 1 to K-1 and over test signals. Converged VMD is computed on 10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traffic run uses 100 training, 20 validation and 30 test nodes; the full protocol has not been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 over test signals. Bold marks the best entry of each row (tie on CWRU).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Ratios of means from Table A2. CWRU 2 layers is 0.00 in the table, below rounding precision.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Spearman correlation against grouped mode SNR over 150 points (30 signals by 5 methods). The energy ratio showed no relation (-0.14).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Lower is better for orthogonality, overlap and bandwidth. Ratios are trained UVMD-1 over untrained VMD-1 from Table A2.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Grouped mode SNR: each estimated mode is assigned to the true mode it projects onto most, and the assigned modes are summed. Frequency error is in cycles per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next-step ideas are proposals, not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8833A"/>
                </a:solidFill>
              </a:rPr>
              <a:t>VARIATIONAL MODE DECOMPOSITION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011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VMD to unfolded VMD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3832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D9"/>
                </a:solidFill>
              </a:rPr>
              <a:t>The ADMM solver, its deep-unfolded version UVMD (Ahmad et al., 2025), where it falls short in theory, and a three-dataset comparison at K = 13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C"/>
                </a:solidFill>
              </a:rPr>
              <a:t>Aitzaz · SPML group, Aarhus University ·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talk covers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621F"/>
                </a:solidFill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5448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A2B"/>
                </a:solidFill>
              </a:rPr>
              <a:t>Classic VMD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554480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</a:rPr>
              <a:t>The problem, the ADMM updates, how the loop runs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487168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621F"/>
                </a:solidFill>
              </a:rPr>
              <a:t>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487168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A2B"/>
                </a:solidFill>
              </a:rPr>
              <a:t>Deep unfolding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487168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</a:rPr>
              <a:t>Iterations become layers, hyperparameters become weights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419856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419856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621F"/>
                </a:solidFill>
              </a:rPr>
              <a:t>3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419856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A2B"/>
                </a:solidFill>
              </a:rPr>
              <a:t>UVMD (Ahmad et al.)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3419856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</a:rPr>
              <a:t>Layer, trained parameters, training, paper versus code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4352544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352544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621F"/>
                </a:solidFill>
              </a:rPr>
              <a:t>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352544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A2B"/>
                </a:solidFill>
              </a:rPr>
              <a:t>Where it falls short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4352544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</a:rPr>
              <a:t>Theoretical caveats and how far ω moves in practice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5285232"/>
            <a:ext cx="110642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285232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621F"/>
                </a:solidFill>
              </a:rPr>
              <a:t>5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28523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A2B"/>
                </a:solidFill>
              </a:rPr>
              <a:t>Results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5285232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</a:rPr>
              <a:t>Reconstruction, then separation: synthetic, CWRU, LargeST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4621F"/>
                </a:solidFill>
              </a:rPr>
              <a:t>CLASSIC VMD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VMD: split a signal into K narrow-band modes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6400800" cy="3291840"/>
          </a:xfrm>
          <a:prstGeom prst="roundRect">
            <a:avLst>
              <a:gd name="adj" fmla="val 2778"/>
            </a:avLst>
          </a:prstGeom>
          <a:solidFill>
            <a:srgbClr val="121A2B"/>
          </a:solidFill>
          <a:ln w="12700">
            <a:solidFill>
              <a:srgbClr val="121A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920240"/>
            <a:ext cx="5852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PROBLEM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over {u_k}, {ω_k}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Σ_k ‖ ∂t[(δ(t) + j/(πt)) ∗ u_k(t)] · e^(−jω_k t) ‖²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to  Σ_k u_k = f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1737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A2B"/>
                </a:solidFill>
              </a:rPr>
              <a:t>Reading the terms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2194560"/>
            <a:ext cx="4297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</a:rPr>
              <a:t>u_k: mode k, ω_k: its centre frequency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</a:rPr>
              <a:t>Hilbert term: makes u_k analytic, one-sided spectrum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</a:rPr>
              <a:t>e^(−jω_k t): shifts mode k to baseband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</a:rPr>
              <a:t>‖∂t ·‖²: the bandwidth of that shifted mode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</a:rPr>
              <a:t>Constraint: the modes must add up to f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</a:rPr>
              <a:t>Hyperparameters: number of modes K, bandwidth penalty α, dual step τ.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4621F"/>
                </a:solidFill>
              </a:rPr>
              <a:t>CLASSIC VMD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ADMM turns it into three closed-form updates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121A2B"/>
          </a:solidFill>
          <a:ln w="12700">
            <a:solidFill>
              <a:srgbClr val="121A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45920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33A"/>
                </a:solidFill>
              </a:rPr>
              <a:t>Mode update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1645920"/>
            <a:ext cx="8229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û_k = ( f̂ − Σ_{i≠k} û_i + λ̂/2 ) / ( 1 + 2α(ω − ω_k)² )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121A2B"/>
          </a:solidFill>
          <a:ln w="12700">
            <a:solidFill>
              <a:srgbClr val="121A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743200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33A"/>
                </a:solidFill>
              </a:rPr>
              <a:t>Centre frequency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291840" y="2743200"/>
            <a:ext cx="8229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ω_k = ∫₀^∞ ω |û_k(ω)|² dω / ∫₀^∞ |û_k(ω)|² dω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840480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121A2B"/>
          </a:solidFill>
          <a:ln w="12700">
            <a:solidFill>
              <a:srgbClr val="121A2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840480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33A"/>
                </a:solidFill>
              </a:rPr>
              <a:t>Dual ascent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3840480"/>
            <a:ext cx="8229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λ̂ ← λ̂ + τ ( f̂ − Σ_k û_k )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0292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D3748"/>
                </a:solidFill>
              </a:rPr>
              <a:t>The mode update is a Wiener-like filter centred on ω_k; α sets how narrow it is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D3748"/>
                </a:solidFill>
              </a:rPr>
              <a:t>ω_k is the power-weighted mean frequency of the mode, positive half spectrum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D3748"/>
                </a:solidFill>
              </a:rPr>
              <a:t>All updates run in the FFT domain, so the method is global and non-causal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4621F"/>
                </a:solidFill>
              </a:rPr>
              <a:t>CLASSIC VMD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VMD loop runs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2377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755648"/>
            <a:ext cx="20116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4621F"/>
                </a:solidFill>
              </a:rPr>
              <a:t>START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21A2B"/>
                </a:solidFill>
              </a:rPr>
              <a:t>Initialise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A5568"/>
                </a:solidFill>
              </a:rPr>
              <a:t>ω_k on a uniform grid, û = 0, λ̂ = 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926080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621F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3383280" y="1645920"/>
            <a:ext cx="2377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66160" y="1755648"/>
            <a:ext cx="20116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4621F"/>
                </a:solidFill>
              </a:rPr>
              <a:t>STEP 1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21A2B"/>
                </a:solidFill>
              </a:rPr>
              <a:t>Modes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A5568"/>
                </a:solidFill>
              </a:rPr>
              <a:t>Update û_k for k = 1..K, one after the other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760720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621F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6217920" y="1645920"/>
            <a:ext cx="2377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1755648"/>
            <a:ext cx="20116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4621F"/>
                </a:solidFill>
              </a:rPr>
              <a:t>STEP 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21A2B"/>
                </a:solidFill>
              </a:rPr>
              <a:t>Centres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A5568"/>
                </a:solidFill>
              </a:rPr>
              <a:t>ω_k from the mode’s power spectrum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621F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9052560" y="1645920"/>
            <a:ext cx="2377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35440" y="1755648"/>
            <a:ext cx="20116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4621F"/>
                </a:solidFill>
              </a:rPr>
              <a:t>STEP 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21A2B"/>
                </a:solidFill>
              </a:rPr>
              <a:t>Multiplier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4A5568"/>
                </a:solidFill>
              </a:rPr>
              <a:t>Dual ascent on λ̂ with step τ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9319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</a:rPr>
              <a:t>Repeat until the modes stop changing (tolerance) or the iteration cap is reached. Typically hundreds of FFT sweeps per signal.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029200"/>
            <a:ext cx="1280160" cy="384048"/>
          </a:xfrm>
          <a:prstGeom prst="roundRect">
            <a:avLst>
              <a:gd name="adj" fmla="val 47619"/>
            </a:avLst>
          </a:prstGeom>
          <a:solidFill>
            <a:srgbClr val="121A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1EA"/>
                </a:solidFill>
              </a:rPr>
              <a:t>K = 13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011680" y="5029200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121A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1EA"/>
                </a:solidFill>
              </a:rPr>
              <a:t>α = 2000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657600" y="5029200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121A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1EA"/>
                </a:solidFill>
              </a:rPr>
              <a:t>τ = 0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937760" y="502920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121A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1EA"/>
                </a:solidFill>
              </a:rPr>
              <a:t>tol = 1e-7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492240" y="5029200"/>
            <a:ext cx="2011680" cy="384048"/>
          </a:xfrm>
          <a:prstGeom prst="roundRect">
            <a:avLst>
              <a:gd name="adj" fmla="val 47619"/>
            </a:avLst>
          </a:prstGeom>
          <a:solidFill>
            <a:srgbClr val="121A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1EA"/>
                </a:solidFill>
              </a:rPr>
              <a:t>max 499 iterations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0" y="5029200"/>
            <a:ext cx="2834640" cy="384048"/>
          </a:xfrm>
          <a:prstGeom prst="roundRect">
            <a:avLst>
              <a:gd name="adj" fmla="val 47619"/>
            </a:avLst>
          </a:prstGeom>
          <a:solidFill>
            <a:srgbClr val="121A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1EA"/>
                </a:solidFill>
              </a:rPr>
              <a:t>DC mode, mirrored extension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833A"/>
                </a:solidFill>
              </a:rPr>
              <a:t>DEEP UNFOLDING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Unfolding: an iterative algorithm becomes a network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94960" cy="2468880"/>
          </a:xfrm>
          <a:prstGeom prst="roundRect">
            <a:avLst>
              <a:gd name="adj" fmla="val 3704"/>
            </a:avLst>
          </a:prstGeom>
          <a:solidFill>
            <a:srgbClr val="1C2740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847088"/>
            <a:ext cx="5029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87452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SOLVER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n = 1..500: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← T(x; θ)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operator T, one fixed θ (α, τ), many repetitions until convergence.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737360"/>
            <a:ext cx="5394960" cy="2468880"/>
          </a:xfrm>
          <a:prstGeom prst="roundRect">
            <a:avLst>
              <a:gd name="adj" fmla="val 3704"/>
            </a:avLst>
          </a:prstGeom>
          <a:solidFill>
            <a:srgbClr val="1C2740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0" y="1847088"/>
            <a:ext cx="50292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187452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7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UNFOLDED NETWORK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x₁ = T(x₀; θ₁)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x₂ = T(x₁; θ₂)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 x_N = T(x_{N−1}; θ_N)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copies (N small), each with its own learnable θ_n.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57200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D5DAE6"/>
                </a:solidFill>
              </a:rPr>
              <a:t>Each iteration becomes a layer; fixed depth N replaces “until convergence”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D5DAE6"/>
                </a:solidFill>
              </a:rPr>
              <a:t>Hyperparameters become weights that gradient descent can tune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D5DAE6"/>
                </a:solidFill>
              </a:rPr>
              <a:t>Origin: LISTA, which unfolded ISTA for sparse coding (Gregor and LeCun, 2010)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4621F"/>
                </a:solidFill>
              </a:rPr>
              <a:t>DEEP UNFOLDING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unfolded algorithm is trained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755648"/>
            <a:ext cx="320040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4621F"/>
                </a:solidFill>
              </a:rPr>
              <a:t>1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21A2B"/>
                </a:solidFill>
              </a:rPr>
              <a:t>Truncate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A5568"/>
                </a:solidFill>
              </a:rPr>
              <a:t>Keep N iterations, N = 1 or 2 here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97680" y="164592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80560" y="1755648"/>
            <a:ext cx="320040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4621F"/>
                </a:solidFill>
              </a:rPr>
              <a:t>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21A2B"/>
                </a:solidFill>
              </a:rPr>
              <a:t>Parametrise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A5568"/>
                </a:solidFill>
              </a:rPr>
              <a:t>Pick hyperparameters to learn, one set per layer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46720" y="164592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0" y="1755648"/>
            <a:ext cx="320040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4621F"/>
                </a:solidFill>
              </a:rPr>
              <a:t>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21A2B"/>
                </a:solidFill>
              </a:rPr>
              <a:t>Define a loss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A5568"/>
                </a:solidFill>
              </a:rPr>
              <a:t>Score the output of the last layer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8862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995928"/>
            <a:ext cx="320040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4621F"/>
                </a:solidFill>
              </a:rPr>
              <a:t>4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21A2B"/>
                </a:solidFill>
              </a:rPr>
              <a:t>Backpropagate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A5568"/>
                </a:solidFill>
              </a:rPr>
              <a:t>Gradients flow through all layers; Adam updates the parameters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97680" y="38862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80560" y="3995928"/>
            <a:ext cx="320040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4621F"/>
                </a:solidFill>
              </a:rPr>
              <a:t>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21A2B"/>
                </a:solidFill>
              </a:rPr>
              <a:t>Fix and deploy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A5568"/>
                </a:solidFill>
              </a:rPr>
              <a:t>Freeze the weights, run N layers on new signals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46720" y="38862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121A2B"/>
          </a:solidFill>
          <a:ln w="12700">
            <a:solidFill>
              <a:srgbClr val="121A2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0" y="3995928"/>
            <a:ext cx="320040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8833A"/>
                </a:solidFill>
              </a:rPr>
              <a:t>TRADE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4F1EA"/>
                </a:solidFill>
              </a:rPr>
              <a:t>Speed for guarantees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8C4D9"/>
                </a:solidFill>
              </a:rPr>
              <a:t>Far fewer steps, but no convergence guarantee and tuned to the training data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4621F"/>
                </a:solidFill>
              </a:rPr>
              <a:t>UVMD (AHMAD ET AL.)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UVMD: one layer is one VMD sweep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755648"/>
            <a:ext cx="2011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21A2B"/>
                </a:solidFill>
              </a:rPr>
              <a:t>Input f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568"/>
                </a:solidFill>
              </a:rPr>
              <a:t>Mirror, FFT, keep the positive half: f̂₊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2926080" y="2057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621F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3383280" y="164592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121A2B"/>
          </a:solidFill>
          <a:ln w="12700">
            <a:solidFill>
              <a:srgbClr val="121A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66160" y="1755648"/>
            <a:ext cx="2011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4F1EA"/>
                </a:solidFill>
              </a:rPr>
              <a:t>Layer 1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8C4D9"/>
                </a:solidFill>
              </a:rPr>
              <a:t>α_k, λ̂₁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760720" y="2057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621F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6217920" y="164592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121A2B"/>
          </a:solidFill>
          <a:ln w="12700">
            <a:solidFill>
              <a:srgbClr val="121A2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1755648"/>
            <a:ext cx="2011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4F1EA"/>
                </a:solidFill>
              </a:rPr>
              <a:t>Layer N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8C4D9"/>
                </a:solidFill>
              </a:rPr>
              <a:t>α_k, λ̂_N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595360" y="2057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621F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9052560" y="164592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35440" y="1755648"/>
            <a:ext cx="2011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21A2B"/>
                </a:solidFill>
              </a:rPr>
              <a:t>Modes u_k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5568"/>
                </a:solidFill>
              </a:rPr>
              <a:t>Inverse FFT; loss on Σ_k û_k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338328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121A2B"/>
          </a:solidFill>
          <a:ln w="12700">
            <a:solidFill>
              <a:srgbClr val="121A2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3520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û_k = ( f̂₊ − Σ_{i≠k} û_i − λ̂_n/2 ) / ( 1 + softplus(α_k)(ω − ω_k)² )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ω_k = Σ ω |û_k|² / Σ |û_k|²      (positive half, k ≥ 1)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3035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568"/>
                </a:solidFill>
              </a:rPr>
              <a:t>Layer n sweeps through the K modes (Gauss-Seidel), then recomputes every ω_k from the new spectra. Mode 0 stays at DC. Written as in the released code.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4621F"/>
                </a:solidFill>
              </a:rPr>
              <a:t>UVMD (AHMAD ET AL.)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UVMD trains, and what it does not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1F5FA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847088"/>
            <a:ext cx="320040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5FA8"/>
                </a:solidFill>
              </a:rPr>
              <a:t>TRAINED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21A2B"/>
                </a:solidFill>
              </a:rPr>
              <a:t>α_k, K values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A5568"/>
                </a:solidFill>
              </a:rPr>
              <a:t>• Bandwidth penalty per mode, through softplus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A5568"/>
                </a:solidFill>
              </a:rPr>
              <a:t>• Shared by all layers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A5568"/>
                </a:solidFill>
              </a:rPr>
              <a:t>• Initialised at 2000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97680" y="173736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1F5FA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80560" y="1847088"/>
            <a:ext cx="320040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5FA8"/>
                </a:solidFill>
              </a:rPr>
              <a:t>TRAINED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21A2B"/>
                </a:solidFill>
              </a:rPr>
              <a:t>λ̂_n, one per layer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A5568"/>
                </a:solidFill>
              </a:rPr>
              <a:t>• Complex vector of length 2T (T = signal length)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A5568"/>
                </a:solidFill>
              </a:rPr>
              <a:t>• Replaces the dual variable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A5568"/>
                </a:solidFill>
              </a:rPr>
              <a:t>• Initialised at 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46720" y="173736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121A2B"/>
          </a:solidFill>
          <a:ln w="12700">
            <a:solidFill>
              <a:srgbClr val="121A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0" y="1847088"/>
            <a:ext cx="320040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8833A"/>
                </a:solidFill>
              </a:rPr>
              <a:t>NOT TRAINED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4F1EA"/>
                </a:solidFill>
              </a:rPr>
              <a:t>ω_k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8C4D9"/>
                </a:solidFill>
              </a:rPr>
              <a:t>• Recomputed from û_k in every layer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8C4D9"/>
                </a:solidFill>
              </a:rPr>
              <a:t>• Starts on a fixed uniform grid, 0.5·k/K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8C4D9"/>
                </a:solidFill>
              </a:rPr>
              <a:t>• No weight of its own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303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D3748"/>
                </a:solidFill>
              </a:rPr>
              <a:t>Both trained parameters enter only the </a:t>
            </a:r>
            <a:pPr indent="0" marL="0">
              <a:buNone/>
            </a:pPr>
            <a:r>
              <a:rPr lang="en-US" sz="1900" b="1" dirty="0">
                <a:solidFill>
                  <a:srgbClr val="2D3748"/>
                </a:solidFill>
              </a:rPr>
              <a:t>mode update</a:t>
            </a:r>
            <a:pPr indent="0" marL="0">
              <a:buNone/>
            </a:pPr>
            <a:r>
              <a:rPr lang="en-US" sz="1900" dirty="0">
                <a:solidFill>
                  <a:srgbClr val="2D3748"/>
                </a:solidFill>
              </a:rPr>
              <a:t>. The frequency update has none, so ω can change only through û_k.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4621F"/>
                </a:solidFill>
              </a:rPr>
              <a:t>UVMD (AHMAD ET AL.)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UVMD is trained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 reconstruction error, Σ |Σ_k û_k − f̂₊| (L1 in the code, L2 in the paper)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None: no ground-truth modes, the loss sees only the sum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Adam, learning rate 0.1, batch size 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100 epochs, early stopping with patience 10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split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/ 15 / 15, random_state 42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size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13 modes, N = 1 or 2 layers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values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α_k = 2000, λ̂ = 0, ω on the uniform grid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5568"/>
                </a:solidFill>
              </a:rPr>
              <a:t>The learned α and λ̂ are shared by every signal of the dataset; they are not computed per signal.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4621F"/>
                </a:solidFill>
              </a:rPr>
              <a:t>UVMD (AHMAD ET AL.)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paper and the released code differ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06240"/>
                <a:gridCol w="42062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Released code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Denominator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+ 2·softplus(α)(ω − ω_k)²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+ softplus(α)(ω − ω_k)²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Multiplier term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λ̂/2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λ̂/2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norm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L1, sum of absolute values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statement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constraint, no λ update given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λ̂ is a free trained tensor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48056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D3748"/>
                </a:solidFill>
              </a:rPr>
              <a:t>The sign of λ̂ is absorbed by training, but the factor 2 changes what α means: the same number gives a different filter width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D3748"/>
                </a:solidFill>
              </a:rPr>
              <a:t>The headline “250× faster” is about 162× from the paper’s own timings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D3748"/>
                </a:solidFill>
              </a:rPr>
              <a:t>“Robust” is in the title, but no noise experiments are reported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D3748"/>
                </a:solidFill>
              </a:rPr>
              <a:t>The upstream repository carries no licence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833A"/>
                </a:solidFill>
              </a:rPr>
              <a:t>CAVEAT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trained parameters never act on ω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1C2740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847088"/>
            <a:ext cx="2834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4F1EA"/>
                </a:solidFill>
              </a:rPr>
              <a:t>α_k, λ̂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8C4D9"/>
                </a:solidFill>
              </a:rPr>
              <a:t>The only weights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3840480" y="2148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621F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389120" y="173736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1C2740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0" y="1847088"/>
            <a:ext cx="2834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4F1EA"/>
                </a:solidFill>
              </a:rPr>
              <a:t>û_k update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8C4D9"/>
                </a:solidFill>
              </a:rPr>
              <a:t>Filter width and offset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48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621F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8229600" y="17373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C2740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0" y="1847088"/>
            <a:ext cx="30175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4F1EA"/>
                </a:solidFill>
              </a:rPr>
              <a:t>ω_k update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8C4D9"/>
                </a:solidFill>
              </a:rPr>
              <a:t>Mean frequency of û_k, no weight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56616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D5DAE6"/>
                </a:solidFill>
              </a:rPr>
              <a:t>ω can move only indirectly, through the spectrum that α and λ̂ shape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D5DAE6"/>
                </a:solidFill>
              </a:rPr>
              <a:t>With N = 1 or 2 it is updated once or twice; classic VMD updates it hundreds of times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D5DAE6"/>
                </a:solidFill>
              </a:rPr>
              <a:t>It starts on a uniform grid that need not match the signal’s true frequencies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D5DAE6"/>
                </a:solidFill>
              </a:rPr>
              <a:t>Nothing in the loss pushes ω toward the right place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4621F"/>
                </a:solidFill>
              </a:rPr>
              <a:t>CAVEAT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loss rewards reconstruction only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56692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D3748"/>
                </a:solidFill>
              </a:rPr>
              <a:t>λ̂ is a free complex vector of length 2T: it can absorb the residual and cut the error without making better modes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D3748"/>
                </a:solidFill>
              </a:rPr>
              <a:t>α can collapse: with α → 0 a mode passes everything and the sum is exact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D3748"/>
                </a:solidFill>
              </a:rPr>
              <a:t>No term asks for orthogonal or narrow-band modes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D3748"/>
                </a:solidFill>
              </a:rPr>
              <a:t>One α and λ̂ for the whole dataset; changing T means retraining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6583680" y="1737360"/>
            <a:ext cx="5029200" cy="4023360"/>
          </a:xfrm>
          <a:prstGeom prst="roundRect">
            <a:avLst>
              <a:gd name="adj" fmla="val 2273"/>
            </a:avLst>
          </a:prstGeom>
          <a:solidFill>
            <a:srgbClr val="121A2B"/>
          </a:solidFill>
          <a:ln w="12700">
            <a:solidFill>
              <a:srgbClr val="121A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0" y="1920240"/>
            <a:ext cx="4480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E8833A"/>
                </a:solidFill>
              </a:rPr>
              <a:t>SEEN ON CWRU, 1 LAYER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4F1EA"/>
                </a:solidFill>
              </a:rPr>
              <a:t>Reconstruction error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7DB8F0"/>
                </a:solidFill>
              </a:rPr>
              <a:t>0.0662 → 0.0004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4F1EA"/>
                </a:solidFill>
              </a:rPr>
              <a:t>Spectral overlap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E8833A"/>
                </a:solidFill>
              </a:rPr>
              <a:t>0.066 → 0.371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B8C4D9"/>
                </a:solidFill>
              </a:rPr>
              <a:t>Untrained VMD-1 to trained UVMD-1. One α went to 0.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4621F"/>
                </a:solidFill>
              </a:rPr>
              <a:t>FURTHER CAVEATS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limits to keep in mind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47088"/>
            <a:ext cx="32004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21A2B"/>
                </a:solidFill>
              </a:rPr>
              <a:t>Far from the fixed point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A5568"/>
                </a:solidFill>
              </a:rPr>
              <a:t>1 or 2 sweeps cannot reach what 500 reach, so the output is not a VMD solution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297680" y="173736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0" y="1847088"/>
            <a:ext cx="32004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21A2B"/>
                </a:solidFill>
              </a:rPr>
              <a:t>Non-causal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A5568"/>
                </a:solidFill>
              </a:rPr>
              <a:t>A global FFT sees the whole window, so forecasting use risks leakage from the future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046720" y="173736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0" y="1847088"/>
            <a:ext cx="32004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21A2B"/>
                </a:solidFill>
              </a:rPr>
              <a:t>Fixed window length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A5568"/>
                </a:solidFill>
              </a:rPr>
              <a:t>λ̂ has length 2T, so a different T needs new training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133088"/>
            <a:ext cx="32004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21A2B"/>
                </a:solidFill>
              </a:rPr>
              <a:t>Batch size 1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A5568"/>
                </a:solidFill>
              </a:rPr>
              <a:t>One signal per step, so a GPU helps little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297680" y="402336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4133088"/>
            <a:ext cx="32004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21A2B"/>
                </a:solidFill>
              </a:rPr>
              <a:t>Training bookkeeping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A5568"/>
                </a:solidFill>
              </a:rPr>
              <a:t>Best weights are saved, then overwritten by the last epoch; loss still falling at epoch 100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46720" y="402336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0" y="4133088"/>
            <a:ext cx="32004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21A2B"/>
                </a:solidFill>
              </a:rPr>
              <a:t>Not tuned for forecasting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A5568"/>
                </a:solidFill>
              </a:rPr>
              <a:t>The paper reports that more layers overfit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ω really barely move? Partly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0350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pic>
        <p:nvPicPr>
          <p:cNvPr id="5" name="Image 0" descr="/home/claude/vmd-uvmd-comparison/results/omega_shift_all/omega_shift_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5943600" cy="3200400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463040"/>
          <a:ext cx="46634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1051560"/>
                <a:gridCol w="1051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shift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UVMD-1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UVMD-2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CWRU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6949440" y="3429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Grid spacings from the start grid; VMD is the converged run.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54864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</a:rPr>
              <a:t>Traffic and synthetic: UVMD moves ω little, as predicted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</a:rPr>
              <a:t>CWRU: UVMD moves it 3× more than converged VMD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</a:rPr>
              <a:t>Moving more is not moving right: synthetic centre-frequency error is 0.0025 for UVMD-1 against 0.0011 for VMD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4621F"/>
                </a:solidFill>
              </a:rPr>
              <a:t>RESULTS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847088"/>
            <a:ext cx="32004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21A2B"/>
                </a:solidFill>
              </a:rPr>
              <a:t>Synthetic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A5568"/>
                </a:solidFill>
              </a:rPr>
              <a:t>4 known modes, ground truth available, 30 test signals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297680" y="173736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80560" y="1847088"/>
            <a:ext cx="32004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21A2B"/>
                </a:solidFill>
              </a:rPr>
              <a:t>CWRU bearing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A5568"/>
                </a:solidFill>
              </a:rPr>
              <a:t>Vibration with fault lines, 300 test signals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046720" y="173736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0" y="1847088"/>
            <a:ext cx="32004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21A2B"/>
                </a:solidFill>
              </a:rPr>
              <a:t>LargeST traffic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4A5568"/>
                </a:solidFill>
              </a:rPr>
              <a:t>San Diego sensors, bounded run, 30 test windows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65760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D3748"/>
                </a:solidFill>
              </a:rPr>
              <a:t>Methods, all at K = 13: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3748"/>
                </a:solidFill>
              </a:rPr>
              <a:t>converged VMD; VMD-N (VMD stopped after N iterations); trained UVMD-N with N = 1, 2.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3748"/>
                </a:solidFill>
              </a:rPr>
              <a:t>VMD-N equals UVMD-N before training, so the pair isolates the effect of training.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D3748"/>
                </a:solidFill>
              </a:rPr>
              <a:t>Reconstruction: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3748"/>
                </a:solidFill>
              </a:rPr>
              <a:t>relative error ‖x − Σu_k‖ / ‖x‖.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D3748"/>
                </a:solidFill>
              </a:rPr>
              <a:t>Separation, without ground truth: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D3748"/>
                </a:solidFill>
              </a:rPr>
              <a:t>orthogonality index, spectral overlap, relative bandwidth, energy ratio, with the effective number of modes as a guard.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4621F"/>
                </a:solidFill>
              </a:rPr>
              <a:t>RESULTS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Reconstruction: trained UVMD wins</a:t>
            </a:r>
            <a:endParaRPr lang="en-US" sz="3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828800"/>
                <a:gridCol w="1691640"/>
                <a:gridCol w="1691640"/>
                <a:gridCol w="1691640"/>
                <a:gridCol w="16916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error 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VMD converged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VMD-1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UVMD-1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VMD-2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UVMD-2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0.0294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0.0499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0.0379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CWRU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0.0760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0.0662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0.1070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traffic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0.0303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0.0729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0.0838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0.0372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D3748"/>
                </a:solidFill>
              </a:rPr>
              <a:t>Trained UVMD-N beats untrained VMD-N on 100% of signals in every dataset and for both depths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D3748"/>
                </a:solidFill>
              </a:rPr>
              <a:t>One trained layer also beats converged VMD on all three datasets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D3748"/>
                </a:solidFill>
              </a:rPr>
              <a:t>Exception: on traffic, UVMD-2 (0.0372) is slightly worse than converged VMD (0.0303)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833A"/>
                </a:solidFill>
              </a:rPr>
              <a:t>RESULTS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training cuts the error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4D9"/>
                </a:solidFill>
              </a:rPr>
              <a:t>Trained UVMD-N error divided by untrained VMD-N error, same depth. Lower is better.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1C2740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304288"/>
            <a:ext cx="320040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DB8F0"/>
                </a:solidFill>
              </a:rPr>
              <a:t>Synthetic</a:t>
            </a:r>
            <a:endParaRPr lang="en-US" sz="22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4F1EA"/>
                </a:solidFill>
              </a:rPr>
              <a:t>0.13×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B8C4D9"/>
                </a:solidFill>
              </a:rPr>
              <a:t>1 layer</a:t>
            </a:r>
            <a:endParaRPr lang="en-US" sz="22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4F1EA"/>
                </a:solidFill>
              </a:rPr>
              <a:t>0.38×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B8C4D9"/>
                </a:solidFill>
              </a:rPr>
              <a:t>2 layers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297680" y="219456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1C2740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80560" y="2304288"/>
            <a:ext cx="320040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233172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DB8F0"/>
                </a:solidFill>
              </a:rPr>
              <a:t>CWRU</a:t>
            </a:r>
            <a:endParaRPr lang="en-US" sz="22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4F1EA"/>
                </a:solidFill>
              </a:rPr>
              <a:t>0.01×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B8C4D9"/>
                </a:solidFill>
              </a:rPr>
              <a:t>1 layer</a:t>
            </a:r>
            <a:endParaRPr lang="en-US" sz="22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4F1EA"/>
                </a:solidFill>
              </a:rPr>
              <a:t>&lt;0.01×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B8C4D9"/>
                </a:solidFill>
              </a:rPr>
              <a:t>2 layers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046720" y="2194560"/>
            <a:ext cx="3566160" cy="3017520"/>
          </a:xfrm>
          <a:prstGeom prst="roundRect">
            <a:avLst>
              <a:gd name="adj" fmla="val 3030"/>
            </a:avLst>
          </a:prstGeom>
          <a:solidFill>
            <a:srgbClr val="1C2740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0" y="2304288"/>
            <a:ext cx="320040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233172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DB8F0"/>
                </a:solidFill>
              </a:rPr>
              <a:t>LargeST traffic</a:t>
            </a:r>
            <a:endParaRPr lang="en-US" sz="22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4F1EA"/>
                </a:solidFill>
              </a:rPr>
              <a:t>0.28×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B8C4D9"/>
                </a:solidFill>
              </a:rPr>
              <a:t>1 layer</a:t>
            </a:r>
            <a:endParaRPr lang="en-US" sz="22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4F1EA"/>
                </a:solidFill>
              </a:rPr>
              <a:t>0.44×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B8C4D9"/>
                </a:solidFill>
              </a:rPr>
              <a:t>2 layers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AE6"/>
                </a:solidFill>
              </a:rPr>
              <a:t>The gain is largest where the loss can be gamed most easily (CWRU, with one α driven to 0). Read these numbers together with the separation results.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4621F"/>
                </a:solidFill>
              </a:rPr>
              <a:t>RESULTS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separation is measured without ground truth</a:t>
            </a:r>
            <a:endParaRPr lang="en-US" sz="3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676656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Orthogonality index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Σ_{i&lt;j} |⟨u_i, u_j⟩| / ‖x‖², content shared between modes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 overlap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spectrum two modes occupy together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bandwidth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Energy-weighted spectral width of a mode ÷ Nyquist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ratio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Σ‖u_k‖² / ‖x‖²; above 1 double counts, below 1 loses energy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closer to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modes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Σ s_k², s_k the energy share of mode k; a guard, not a score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near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D3748"/>
                </a:solidFill>
              </a:rPr>
              <a:t>On the synthetic data, where true modes are known, relative bandwidth tracks true separation best (Spearman −0.85), orthogonality and overlap about −0.5. Reconstruction error points the wrong way (+0.52).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4621F"/>
                </a:solidFill>
              </a:rPr>
              <a:t>RESULTS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Separation: training does not help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9494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pic>
        <p:nvPicPr>
          <p:cNvPr id="6" name="Image 0" descr="/home/claude/vmd-uvmd-comparison/results/separation_comparison/comparison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95168"/>
            <a:ext cx="6858000" cy="398206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0" y="1554480"/>
            <a:ext cx="38404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</a:rPr>
              <a:t>Converged VMD is best on orthogonality, overlap and bandwidth in all three datasets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</a:rPr>
              <a:t>Trained UVMD-1 never beats VMD-1 on bandwidth (0% of signals): 1.65× synthetic, 2.59× CWRU, 1.08× traffic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</a:rPr>
              <a:t>Overlap is worse after training in five of six dataset and depth pairs, level in the sixth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</a:rPr>
              <a:t>Energy ratio is the one criterion that improves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4621F"/>
                </a:solidFill>
              </a:rPr>
              <a:t>RESULTS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data: separation against the true modes</a:t>
            </a:r>
            <a:endParaRPr lang="en-US" sz="3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49377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SNR (dB) ↑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Freq. error ↓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VMD converged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0.00106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VMD-1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UVMD-1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0.00252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VMD-2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0.00090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UVMD-2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2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0.00207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57200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</a:rPr>
              <a:t>Training lowers the true mode SNR by 4 to 12 dB while reconstruction error falls by a factor of 2.7 to 7.6. Centre frequencies get farther from the truth.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5760720" y="1554480"/>
            <a:ext cx="5852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2"/>
            </a:solidFill>
            <a:prstDash val="solid"/>
          </a:ln>
        </p:spPr>
      </p:sp>
      <p:pic>
        <p:nvPicPr>
          <p:cNvPr id="8" name="Image 0" descr="/home/claude/vmd-uvmd-comparison/results/separation_comparison/synthetic_proxy_vs_tru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059465"/>
            <a:ext cx="5760720" cy="319627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4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and next steps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64592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1C2740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755648"/>
            <a:ext cx="5074920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33A"/>
                </a:solidFill>
              </a:rPr>
              <a:t>WHAT WE FOUND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945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5DAE6"/>
                </a:solidFill>
              </a:rPr>
              <a:t>UVMD reconstructs better than VMD at the same depth on every signal, with 1 or 2 layers instead of hundreds of iterations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5DAE6"/>
                </a:solidFill>
              </a:rPr>
              <a:t>It does not separate better: at best on par with untrained VMD-N, below converged VMD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5DAE6"/>
                </a:solidFill>
              </a:rPr>
              <a:t>Reconstruction error is no evidence of separation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5DAE6"/>
                </a:solidFill>
              </a:rPr>
              <a:t>ω barely moves on traffic and synthetic, but moves a lot on CWRU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72200" y="1645920"/>
            <a:ext cx="5440680" cy="4023360"/>
          </a:xfrm>
          <a:prstGeom prst="roundRect">
            <a:avLst>
              <a:gd name="adj" fmla="val 2273"/>
            </a:avLst>
          </a:prstGeom>
          <a:solidFill>
            <a:srgbClr val="1C2740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5080" y="1755648"/>
            <a:ext cx="5074920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endParaRPr lang="en-US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B8F0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21945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5DAE6"/>
                </a:solidFill>
              </a:rPr>
              <a:t>Add a separation term (bandwidth or orthogonality) to the loss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5DAE6"/>
                </a:solidFill>
              </a:rPr>
              <a:t>Give ω a trainable path: learned initial grid or a filter on the spectrum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5DAE6"/>
                </a:solidFill>
              </a:rPr>
              <a:t>Ablate: train α only, then λ̂ only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5DAE6"/>
                </a:solidFill>
              </a:rPr>
              <a:t>Test on forecasting with causal windows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5DAE6"/>
                </a:solidFill>
              </a:rPr>
              <a:t>Run the full traffic protocol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C"/>
                </a:solidFill>
              </a:rPr>
              <a:t>Traffic results come from a bounded run (100 / 20 / 30 nodes). Code, tables and figures: repository vmd-uvmd-comparison.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MD UVMD">
  <a:themeElements>
    <a:clrScheme name="VMD UVMD">
      <a:dk1>
        <a:srgbClr val="121A2B"/>
      </a:dk1>
      <a:lt1>
        <a:srgbClr val="FFFFFF"/>
      </a:lt1>
      <a:dk2>
        <a:srgbClr val="1C2740"/>
      </a:dk2>
      <a:lt2>
        <a:srgbClr val="F2F4F7"/>
      </a:lt2>
      <a:accent1>
        <a:srgbClr val="E8833A"/>
      </a:accent1>
      <a:accent2>
        <a:srgbClr val="1F5FA8"/>
      </a:accent2>
      <a:accent3>
        <a:srgbClr val="7DB8F0"/>
      </a:accent3>
      <a:accent4>
        <a:srgbClr val="4A5568"/>
      </a:accent4>
      <a:accent5>
        <a:srgbClr val="C4621F"/>
      </a:accent5>
      <a:accent6>
        <a:srgbClr val="B8C4D9"/>
      </a:accent6>
      <a:hlink>
        <a:srgbClr val="1F5FA8"/>
      </a:hlink>
      <a:folHlink>
        <a:srgbClr val="4A5568"/>
      </a:folHlink>
    </a:clrScheme>
    <a:fontScheme name="VMD UVM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VMD UVMD Comparison</dc:title>
  <dc:subject>PptxGenJS Presentation</dc:subject>
  <dc:creator>Aitzaz</dc:creator>
  <cp:lastModifiedBy>Aitzaz</cp:lastModifiedBy>
  <cp:revision>1</cp:revision>
  <dcterms:created xsi:type="dcterms:W3CDTF">2026-10-29T12:02:02Z</dcterms:created>
  <dcterms:modified xsi:type="dcterms:W3CDTF">2026-10-29T12:02:02Z</dcterms:modified>
</cp:coreProperties>
</file>